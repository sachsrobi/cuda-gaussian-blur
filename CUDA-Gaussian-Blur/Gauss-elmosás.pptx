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notesMasterIdLst>
    <p:notesMasterId r:id="rId12"/>
  </p:notesMasterIdLst>
  <p:sldIdLst>
    <p:sldId id="256" r:id="rId2"/>
    <p:sldId id="267" r:id="rId3"/>
    <p:sldId id="268" r:id="rId4"/>
    <p:sldId id="269" r:id="rId5"/>
    <p:sldId id="270" r:id="rId6"/>
    <p:sldId id="272" r:id="rId7"/>
    <p:sldId id="274" r:id="rId8"/>
    <p:sldId id="271" r:id="rId9"/>
    <p:sldId id="261" r:id="rId10"/>
    <p:sldId id="273" r:id="rId11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6F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tílus és rács nélkül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incs stílus, csak rács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62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5D0E09-0751-4D9B-8506-DF322D392885}" type="datetimeFigureOut">
              <a:rPr lang="hu-HU" smtClean="0"/>
              <a:t>2025. 11. 30.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D851EA-419B-45DE-84F9-C6096360510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56074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851EA-419B-45DE-84F9-C60963605101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768180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Szomszédos pixelek súlyozott átlagolása → kép simítása, zajcsökkentés.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Box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blur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minden pixel azonos súllyal.</a:t>
            </a:r>
          </a:p>
          <a:p>
            <a:endParaRPr lang="hu-HU" dirty="0"/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851EA-419B-45DE-84F9-C60963605101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281412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Gauss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blur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„lágyabb” átmenetek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851EA-419B-45DE-84F9-C60963605101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36878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851EA-419B-45DE-84F9-C60963605101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352667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Adatok előkészítése</a:t>
            </a:r>
            <a:endParaRPr lang="hu-H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W×H méretű tömb feltöltése 0-255 értékekkel véletlenszerűen</a:t>
            </a:r>
          </a:p>
          <a:p>
            <a:pPr lvl="0"/>
            <a:endParaRPr lang="hu-H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endParaRPr lang="hu-H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Kétdimenziós ciklus, minden pixel sorban feldolgozva.</a:t>
            </a:r>
          </a:p>
          <a:p>
            <a:pPr lvl="0"/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3×3 kernel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elemenkénti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beolvasás, határkezelés.</a:t>
            </a:r>
          </a:p>
          <a:p>
            <a:pPr lvl="0"/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Eredmény kimeneti képtömbbe.</a:t>
            </a:r>
          </a:p>
          <a:p>
            <a:endParaRPr lang="hu-HU" dirty="0"/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851EA-419B-45DE-84F9-C60963605101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62377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D8CC6-0F7B-DB26-1E25-A879F49AA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CA8C94ED-52B7-7816-7212-4850C46AF6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E9388031-7A10-4601-C714-ACD2E0191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 (</a:t>
            </a:r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shared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</a:t>
            </a:r>
            <a:r>
              <a:rPr lang="hu-H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hu-H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Kép feldarabolása blokkokra (16*16)</a:t>
            </a:r>
          </a:p>
          <a:p>
            <a:pPr lvl="0"/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Így minden blokk 16×16 szálból áll</a:t>
            </a:r>
          </a:p>
          <a:p>
            <a:pPr lvl="0"/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Blokk saját kis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Tile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 (16+2*16+2) tölt fel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shared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memóriába</a:t>
            </a:r>
          </a:p>
          <a:p>
            <a:pPr lvl="0"/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Minden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thread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betölti a saját középső pixelét (szélsők a </a:t>
            </a:r>
            <a:r>
              <a:rPr lang="hu-H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halo</a:t>
            </a:r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-t)</a:t>
            </a:r>
          </a:p>
          <a:p>
            <a:pPr lvl="0"/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Szinkronizáció, majd kernel számítás.</a:t>
            </a:r>
          </a:p>
          <a:p>
            <a:pPr lvl="0"/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Eredmény globális memóriába írva → jelentős gyorsulás.</a:t>
            </a:r>
          </a:p>
          <a:p>
            <a:pPr lvl="0"/>
            <a:r>
              <a:rPr lang="hu-H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visszamásolása CPU-ra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F141875-906D-A54C-9C0C-3016C96934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851EA-419B-45DE-84F9-C60963605101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12431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hu-HU" dirty="0"/>
              <a:t>Elmosás működik</a:t>
            </a:r>
          </a:p>
          <a:p>
            <a:pPr marL="171450" indent="-171450">
              <a:buFontTx/>
              <a:buChar char="-"/>
            </a:pPr>
            <a:r>
              <a:rPr lang="hu-HU" dirty="0"/>
              <a:t>CPU = GPU megegyezik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851EA-419B-45DE-84F9-C60963605101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40672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833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93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5734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348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3526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2211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49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950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159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0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18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237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15" r:id="rId6"/>
    <p:sldLayoutId id="2147483711" r:id="rId7"/>
    <p:sldLayoutId id="2147483712" r:id="rId8"/>
    <p:sldLayoutId id="2147483713" r:id="rId9"/>
    <p:sldLayoutId id="2147483714" r:id="rId10"/>
    <p:sldLayoutId id="214748371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641B0E3-C3CF-63EC-A2A4-2E72C967F2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hu-HU" sz="13800" b="1" cap="small" dirty="0"/>
              <a:t>Gauss-elmosás</a:t>
            </a:r>
            <a:br>
              <a:rPr lang="hu-HU" sz="8200" b="1" cap="small" dirty="0"/>
            </a:br>
            <a:r>
              <a:rPr lang="hu-HU" sz="8200" b="1" cap="small" dirty="0"/>
              <a:t>CPU és GPU segítségével</a:t>
            </a:r>
            <a:endParaRPr lang="hu-HU" sz="8200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4557DECC-9512-8693-AE54-65202A382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>
            <a:normAutofit/>
          </a:bodyPr>
          <a:lstStyle/>
          <a:p>
            <a:r>
              <a:rPr lang="hu-HU" dirty="0"/>
              <a:t>Készítette Sachs Róbert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Kép 4" descr="A képen Emberi arc, vázlat, portré, emb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0A5D85F9-0E4B-93AD-E0C6-E5EF5757E3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390" r="773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68283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74925A-3F62-58FA-B87B-9C3F27A45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734C809-6837-DF76-D8B7-01268B3841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3287505-AE8B-9D2E-A501-DDBDDC94D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620E38C-8E68-DD5D-98DA-A57F24F8B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hu-HU" sz="6800" dirty="0">
                <a:solidFill>
                  <a:schemeClr val="bg1"/>
                </a:solidFill>
              </a:rPr>
              <a:t>GAUSS ELMOSÁS ELVE</a:t>
            </a:r>
          </a:p>
        </p:txBody>
      </p:sp>
      <p:graphicFrame>
        <p:nvGraphicFramePr>
          <p:cNvPr id="14" name="Táblázat 13">
            <a:extLst>
              <a:ext uri="{FF2B5EF4-FFF2-40B4-BE49-F238E27FC236}">
                <a16:creationId xmlns:a16="http://schemas.microsoft.com/office/drawing/2014/main" id="{236A5D6E-705D-C3EC-CF12-47281794FA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165313"/>
              </p:ext>
            </p:extLst>
          </p:nvPr>
        </p:nvGraphicFramePr>
        <p:xfrm>
          <a:off x="3597541" y="4376567"/>
          <a:ext cx="2065274" cy="1679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574">
                  <a:extLst>
                    <a:ext uri="{9D8B030D-6E8A-4147-A177-3AD203B41FA5}">
                      <a16:colId xmlns:a16="http://schemas.microsoft.com/office/drawing/2014/main" val="1246648692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411711653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61729467"/>
                    </a:ext>
                  </a:extLst>
                </a:gridCol>
              </a:tblGrid>
              <a:tr h="536364">
                <a:tc>
                  <a:txBody>
                    <a:bodyPr/>
                    <a:lstStyle/>
                    <a:p>
                      <a:pPr algn="ctr"/>
                      <a:endParaRPr lang="hu-HU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300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hu-HU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33609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endParaRPr lang="hu-HU" sz="2300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b="1" dirty="0"/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300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072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hu-HU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300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hu-HU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62880"/>
                  </a:ext>
                </a:extLst>
              </a:tr>
            </a:tbl>
          </a:graphicData>
        </a:graphic>
      </p:graphicFrame>
      <p:graphicFrame>
        <p:nvGraphicFramePr>
          <p:cNvPr id="3" name="Táblázat 2">
            <a:extLst>
              <a:ext uri="{FF2B5EF4-FFF2-40B4-BE49-F238E27FC236}">
                <a16:creationId xmlns:a16="http://schemas.microsoft.com/office/drawing/2014/main" id="{513D026B-1A17-982F-8D6A-FE8ED697E9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803970"/>
              </p:ext>
            </p:extLst>
          </p:nvPr>
        </p:nvGraphicFramePr>
        <p:xfrm>
          <a:off x="911972" y="4377250"/>
          <a:ext cx="2065274" cy="1679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574">
                  <a:extLst>
                    <a:ext uri="{9D8B030D-6E8A-4147-A177-3AD203B41FA5}">
                      <a16:colId xmlns:a16="http://schemas.microsoft.com/office/drawing/2014/main" val="1246648692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411711653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61729467"/>
                    </a:ext>
                  </a:extLst>
                </a:gridCol>
              </a:tblGrid>
              <a:tr h="536364">
                <a:tc>
                  <a:txBody>
                    <a:bodyPr/>
                    <a:lstStyle/>
                    <a:p>
                      <a:pPr algn="ctr"/>
                      <a:endParaRPr lang="hu-HU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300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hu-HU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33609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endParaRPr lang="hu-HU" sz="2300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300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072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hu-HU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300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hu-HU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62880"/>
                  </a:ext>
                </a:extLst>
              </a:tr>
            </a:tbl>
          </a:graphicData>
        </a:graphic>
      </p:graphicFrame>
      <p:sp>
        <p:nvSpPr>
          <p:cNvPr id="16" name="Tartalom helye 2">
            <a:extLst>
              <a:ext uri="{FF2B5EF4-FFF2-40B4-BE49-F238E27FC236}">
                <a16:creationId xmlns:a16="http://schemas.microsoft.com/office/drawing/2014/main" id="{B5AEAFD9-DFA3-7E2A-945C-C22EB01A4418}"/>
              </a:ext>
            </a:extLst>
          </p:cNvPr>
          <p:cNvSpPr txBox="1">
            <a:spLocks/>
          </p:cNvSpPr>
          <p:nvPr/>
        </p:nvSpPr>
        <p:spPr>
          <a:xfrm>
            <a:off x="5976650" y="3429000"/>
            <a:ext cx="2857283" cy="736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hu-HU" dirty="0">
              <a:highlight>
                <a:srgbClr val="C0C0C0"/>
              </a:highlight>
            </a:endParaRP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63B3DC45-7AAB-1FF9-43C5-28B5B27D7C64}"/>
              </a:ext>
            </a:extLst>
          </p:cNvPr>
          <p:cNvSpPr txBox="1">
            <a:spLocks/>
          </p:cNvSpPr>
          <p:nvPr/>
        </p:nvSpPr>
        <p:spPr>
          <a:xfrm>
            <a:off x="1852572" y="3261507"/>
            <a:ext cx="2857283" cy="736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hu-HU" sz="3600" dirty="0">
                <a:highlight>
                  <a:srgbClr val="C0C0C0"/>
                </a:highlight>
              </a:rPr>
              <a:t>Sima (</a:t>
            </a:r>
            <a:r>
              <a:rPr lang="hu-HU" sz="3600" dirty="0" err="1">
                <a:highlight>
                  <a:srgbClr val="C0C0C0"/>
                </a:highlight>
              </a:rPr>
              <a:t>Box</a:t>
            </a:r>
            <a:r>
              <a:rPr lang="hu-HU" sz="3600" dirty="0">
                <a:highlight>
                  <a:srgbClr val="C0C0C0"/>
                </a:highlight>
              </a:rPr>
              <a:t>) elmosás</a:t>
            </a:r>
            <a:endParaRPr lang="hu-HU" dirty="0">
              <a:highlight>
                <a:srgbClr val="C0C0C0"/>
              </a:highlight>
            </a:endParaRPr>
          </a:p>
        </p:txBody>
      </p:sp>
      <p:sp>
        <p:nvSpPr>
          <p:cNvPr id="12" name="Nyíl: jobbra mutató 11">
            <a:extLst>
              <a:ext uri="{FF2B5EF4-FFF2-40B4-BE49-F238E27FC236}">
                <a16:creationId xmlns:a16="http://schemas.microsoft.com/office/drawing/2014/main" id="{8749A9C9-D4B7-6EF5-33F8-2335305A0472}"/>
              </a:ext>
            </a:extLst>
          </p:cNvPr>
          <p:cNvSpPr/>
          <p:nvPr/>
        </p:nvSpPr>
        <p:spPr>
          <a:xfrm>
            <a:off x="3054983" y="5021939"/>
            <a:ext cx="464820" cy="38862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8175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1C5070-02E6-1ED2-7526-0F1779A52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B6EB62-85FB-033F-E9E2-9817EEEAA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DA9FA4F-8605-1513-DA68-BC59273E1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2972603-0CD3-C0F6-D24A-44B470594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hu-HU" sz="6800" dirty="0">
                <a:solidFill>
                  <a:schemeClr val="bg1"/>
                </a:solidFill>
              </a:rPr>
              <a:t>GAUSS ELMOSÁS ELVE</a:t>
            </a:r>
          </a:p>
        </p:txBody>
      </p:sp>
      <p:graphicFrame>
        <p:nvGraphicFramePr>
          <p:cNvPr id="14" name="Táblázat 13">
            <a:extLst>
              <a:ext uri="{FF2B5EF4-FFF2-40B4-BE49-F238E27FC236}">
                <a16:creationId xmlns:a16="http://schemas.microsoft.com/office/drawing/2014/main" id="{EE49B82B-2EEF-B422-8EAE-66852300F74F}"/>
              </a:ext>
            </a:extLst>
          </p:cNvPr>
          <p:cNvGraphicFramePr>
            <a:graphicFrameLocks noGrp="1"/>
          </p:cNvGraphicFramePr>
          <p:nvPr/>
        </p:nvGraphicFramePr>
        <p:xfrm>
          <a:off x="3597541" y="4376567"/>
          <a:ext cx="2065274" cy="1679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574">
                  <a:extLst>
                    <a:ext uri="{9D8B030D-6E8A-4147-A177-3AD203B41FA5}">
                      <a16:colId xmlns:a16="http://schemas.microsoft.com/office/drawing/2014/main" val="1246648692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411711653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61729467"/>
                    </a:ext>
                  </a:extLst>
                </a:gridCol>
              </a:tblGrid>
              <a:tr h="536364">
                <a:tc>
                  <a:txBody>
                    <a:bodyPr/>
                    <a:lstStyle/>
                    <a:p>
                      <a:pPr algn="ctr"/>
                      <a:endParaRPr lang="hu-HU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300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hu-HU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33609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endParaRPr lang="hu-HU" sz="2300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b="1" dirty="0"/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300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072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hu-HU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300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hu-HU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62880"/>
                  </a:ext>
                </a:extLst>
              </a:tr>
            </a:tbl>
          </a:graphicData>
        </a:graphic>
      </p:graphicFrame>
      <p:graphicFrame>
        <p:nvGraphicFramePr>
          <p:cNvPr id="23" name="Táblázat 22">
            <a:extLst>
              <a:ext uri="{FF2B5EF4-FFF2-40B4-BE49-F238E27FC236}">
                <a16:creationId xmlns:a16="http://schemas.microsoft.com/office/drawing/2014/main" id="{DBEC04D8-7C28-D050-483D-BDC860267A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988520"/>
              </p:ext>
            </p:extLst>
          </p:nvPr>
        </p:nvGraphicFramePr>
        <p:xfrm>
          <a:off x="9087125" y="4388599"/>
          <a:ext cx="2065274" cy="1679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574">
                  <a:extLst>
                    <a:ext uri="{9D8B030D-6E8A-4147-A177-3AD203B41FA5}">
                      <a16:colId xmlns:a16="http://schemas.microsoft.com/office/drawing/2014/main" val="1246648692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411711653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61729467"/>
                    </a:ext>
                  </a:extLst>
                </a:gridCol>
              </a:tblGrid>
              <a:tr h="536364">
                <a:tc>
                  <a:txBody>
                    <a:bodyPr/>
                    <a:lstStyle/>
                    <a:p>
                      <a:pPr algn="ctr"/>
                      <a:r>
                        <a:rPr lang="hu-HU" dirty="0">
                          <a:solidFill>
                            <a:schemeClr val="bg1"/>
                          </a:solidFill>
                        </a:rPr>
                        <a:t>0.0625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300" dirty="0">
                          <a:solidFill>
                            <a:schemeClr val="bg1"/>
                          </a:solidFill>
                        </a:rPr>
                        <a:t>0.125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>
                          <a:solidFill>
                            <a:schemeClr val="bg1"/>
                          </a:solidFill>
                        </a:rPr>
                        <a:t>0.0625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33609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hu-HU" sz="2300" dirty="0">
                          <a:solidFill>
                            <a:schemeClr val="bg1"/>
                          </a:solidFill>
                        </a:rPr>
                        <a:t>0.125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800" b="1" dirty="0">
                          <a:solidFill>
                            <a:schemeClr val="tx1"/>
                          </a:solidFill>
                        </a:rPr>
                        <a:t>0.25</a:t>
                      </a:r>
                      <a:endParaRPr lang="hu-HU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300" dirty="0">
                          <a:solidFill>
                            <a:schemeClr val="bg1"/>
                          </a:solidFill>
                        </a:rPr>
                        <a:t>0.125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072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>
                          <a:solidFill>
                            <a:schemeClr val="bg1"/>
                          </a:solidFill>
                        </a:rPr>
                        <a:t>0.0625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300" dirty="0">
                          <a:solidFill>
                            <a:schemeClr val="bg1"/>
                          </a:solidFill>
                        </a:rPr>
                        <a:t>0.125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>
                          <a:solidFill>
                            <a:schemeClr val="bg1"/>
                          </a:solidFill>
                        </a:rPr>
                        <a:t>0.0625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62880"/>
                  </a:ext>
                </a:extLst>
              </a:tr>
            </a:tbl>
          </a:graphicData>
        </a:graphic>
      </p:graphicFrame>
      <p:graphicFrame>
        <p:nvGraphicFramePr>
          <p:cNvPr id="3" name="Táblázat 2">
            <a:extLst>
              <a:ext uri="{FF2B5EF4-FFF2-40B4-BE49-F238E27FC236}">
                <a16:creationId xmlns:a16="http://schemas.microsoft.com/office/drawing/2014/main" id="{FF2DE0D9-4D5D-362D-BC07-5F7CE1396938}"/>
              </a:ext>
            </a:extLst>
          </p:cNvPr>
          <p:cNvGraphicFramePr>
            <a:graphicFrameLocks noGrp="1"/>
          </p:cNvGraphicFramePr>
          <p:nvPr/>
        </p:nvGraphicFramePr>
        <p:xfrm>
          <a:off x="911972" y="4377250"/>
          <a:ext cx="2065274" cy="1679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574">
                  <a:extLst>
                    <a:ext uri="{9D8B030D-6E8A-4147-A177-3AD203B41FA5}">
                      <a16:colId xmlns:a16="http://schemas.microsoft.com/office/drawing/2014/main" val="1246648692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411711653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61729467"/>
                    </a:ext>
                  </a:extLst>
                </a:gridCol>
              </a:tblGrid>
              <a:tr h="536364">
                <a:tc>
                  <a:txBody>
                    <a:bodyPr/>
                    <a:lstStyle/>
                    <a:p>
                      <a:pPr algn="ctr"/>
                      <a:endParaRPr lang="hu-HU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300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hu-HU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33609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endParaRPr lang="hu-HU" sz="2300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300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072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hu-HU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300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hu-HU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62880"/>
                  </a:ext>
                </a:extLst>
              </a:tr>
            </a:tbl>
          </a:graphicData>
        </a:graphic>
      </p:graphicFrame>
      <p:graphicFrame>
        <p:nvGraphicFramePr>
          <p:cNvPr id="9" name="Táblázat 8">
            <a:extLst>
              <a:ext uri="{FF2B5EF4-FFF2-40B4-BE49-F238E27FC236}">
                <a16:creationId xmlns:a16="http://schemas.microsoft.com/office/drawing/2014/main" id="{AD3421E9-099D-4931-A0DE-15728C608AB8}"/>
              </a:ext>
            </a:extLst>
          </p:cNvPr>
          <p:cNvGraphicFramePr>
            <a:graphicFrameLocks noGrp="1"/>
          </p:cNvGraphicFramePr>
          <p:nvPr/>
        </p:nvGraphicFramePr>
        <p:xfrm>
          <a:off x="6365359" y="4388599"/>
          <a:ext cx="2065274" cy="1679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574">
                  <a:extLst>
                    <a:ext uri="{9D8B030D-6E8A-4147-A177-3AD203B41FA5}">
                      <a16:colId xmlns:a16="http://schemas.microsoft.com/office/drawing/2014/main" val="1246648692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411711653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61729467"/>
                    </a:ext>
                  </a:extLst>
                </a:gridCol>
              </a:tblGrid>
              <a:tr h="536364">
                <a:tc>
                  <a:txBody>
                    <a:bodyPr/>
                    <a:lstStyle/>
                    <a:p>
                      <a:pPr algn="ctr"/>
                      <a:r>
                        <a:rPr lang="hu-HU" dirty="0">
                          <a:solidFill>
                            <a:schemeClr val="bg1"/>
                          </a:solidFill>
                        </a:rPr>
                        <a:t>0.0625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300" dirty="0">
                          <a:solidFill>
                            <a:schemeClr val="bg1"/>
                          </a:solidFill>
                        </a:rPr>
                        <a:t>0.125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>
                          <a:solidFill>
                            <a:schemeClr val="bg1"/>
                          </a:solidFill>
                        </a:rPr>
                        <a:t>0.0625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33609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r>
                        <a:rPr lang="hu-HU" sz="2300" dirty="0">
                          <a:solidFill>
                            <a:schemeClr val="bg1"/>
                          </a:solidFill>
                        </a:rPr>
                        <a:t>0.125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800" b="1" dirty="0">
                          <a:solidFill>
                            <a:schemeClr val="tx1"/>
                          </a:solidFill>
                        </a:rPr>
                        <a:t>0.25</a:t>
                      </a:r>
                      <a:endParaRPr lang="hu-HU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300" dirty="0">
                          <a:solidFill>
                            <a:schemeClr val="bg1"/>
                          </a:solidFill>
                        </a:rPr>
                        <a:t>0.125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072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>
                          <a:solidFill>
                            <a:schemeClr val="bg1"/>
                          </a:solidFill>
                        </a:rPr>
                        <a:t>0.0625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300" dirty="0">
                          <a:solidFill>
                            <a:schemeClr val="bg1"/>
                          </a:solidFill>
                        </a:rPr>
                        <a:t>0.125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>
                          <a:solidFill>
                            <a:schemeClr val="bg1"/>
                          </a:solidFill>
                        </a:rPr>
                        <a:t>0.0625</a:t>
                      </a: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62880"/>
                  </a:ext>
                </a:extLst>
              </a:tr>
            </a:tbl>
          </a:graphicData>
        </a:graphic>
      </p:graphicFrame>
      <p:sp>
        <p:nvSpPr>
          <p:cNvPr id="16" name="Tartalom helye 2">
            <a:extLst>
              <a:ext uri="{FF2B5EF4-FFF2-40B4-BE49-F238E27FC236}">
                <a16:creationId xmlns:a16="http://schemas.microsoft.com/office/drawing/2014/main" id="{591F661B-FF3F-7352-0798-CCA1C2BF7BAF}"/>
              </a:ext>
            </a:extLst>
          </p:cNvPr>
          <p:cNvSpPr txBox="1">
            <a:spLocks/>
          </p:cNvSpPr>
          <p:nvPr/>
        </p:nvSpPr>
        <p:spPr>
          <a:xfrm>
            <a:off x="5976650" y="3429000"/>
            <a:ext cx="2857283" cy="736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hu-HU" dirty="0">
              <a:highlight>
                <a:srgbClr val="C0C0C0"/>
              </a:highlight>
            </a:endParaRP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AA249BA0-8E80-9176-305F-8062AF247826}"/>
              </a:ext>
            </a:extLst>
          </p:cNvPr>
          <p:cNvSpPr txBox="1">
            <a:spLocks/>
          </p:cNvSpPr>
          <p:nvPr/>
        </p:nvSpPr>
        <p:spPr>
          <a:xfrm>
            <a:off x="1852572" y="3261507"/>
            <a:ext cx="2857283" cy="736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hu-HU" sz="3600" dirty="0">
                <a:highlight>
                  <a:srgbClr val="C0C0C0"/>
                </a:highlight>
              </a:rPr>
              <a:t>Sima (</a:t>
            </a:r>
            <a:r>
              <a:rPr lang="hu-HU" sz="3600" dirty="0" err="1">
                <a:highlight>
                  <a:srgbClr val="C0C0C0"/>
                </a:highlight>
              </a:rPr>
              <a:t>Box</a:t>
            </a:r>
            <a:r>
              <a:rPr lang="hu-HU" sz="3600" dirty="0">
                <a:highlight>
                  <a:srgbClr val="C0C0C0"/>
                </a:highlight>
              </a:rPr>
              <a:t>) elmosás</a:t>
            </a:r>
            <a:endParaRPr lang="hu-HU" dirty="0">
              <a:highlight>
                <a:srgbClr val="C0C0C0"/>
              </a:highlight>
            </a:endParaRPr>
          </a:p>
        </p:txBody>
      </p:sp>
      <p:sp>
        <p:nvSpPr>
          <p:cNvPr id="7" name="Tartalom helye 2">
            <a:extLst>
              <a:ext uri="{FF2B5EF4-FFF2-40B4-BE49-F238E27FC236}">
                <a16:creationId xmlns:a16="http://schemas.microsoft.com/office/drawing/2014/main" id="{8EBC3123-5124-3431-5A21-8D60EE4473E2}"/>
              </a:ext>
            </a:extLst>
          </p:cNvPr>
          <p:cNvSpPr txBox="1">
            <a:spLocks/>
          </p:cNvSpPr>
          <p:nvPr/>
        </p:nvSpPr>
        <p:spPr>
          <a:xfrm>
            <a:off x="7405291" y="3218230"/>
            <a:ext cx="2857283" cy="736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hu-HU" sz="3600" dirty="0">
                <a:highlight>
                  <a:srgbClr val="C0C0C0"/>
                </a:highlight>
              </a:rPr>
              <a:t>Gauss-elmosás</a:t>
            </a:r>
            <a:endParaRPr lang="hu-HU" dirty="0">
              <a:highlight>
                <a:srgbClr val="C0C0C0"/>
              </a:highlight>
            </a:endParaRPr>
          </a:p>
        </p:txBody>
      </p:sp>
      <p:sp>
        <p:nvSpPr>
          <p:cNvPr id="4" name="Nyíl: jobbra mutató 3">
            <a:extLst>
              <a:ext uri="{FF2B5EF4-FFF2-40B4-BE49-F238E27FC236}">
                <a16:creationId xmlns:a16="http://schemas.microsoft.com/office/drawing/2014/main" id="{5559078C-5267-DE7F-5B8D-8B4A85FDBBEE}"/>
              </a:ext>
            </a:extLst>
          </p:cNvPr>
          <p:cNvSpPr/>
          <p:nvPr/>
        </p:nvSpPr>
        <p:spPr>
          <a:xfrm>
            <a:off x="3054983" y="5021939"/>
            <a:ext cx="464820" cy="38862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Nyíl: jobbra mutató 4">
            <a:extLst>
              <a:ext uri="{FF2B5EF4-FFF2-40B4-BE49-F238E27FC236}">
                <a16:creationId xmlns:a16="http://schemas.microsoft.com/office/drawing/2014/main" id="{FBD33609-8969-0BC7-B603-6205E3AB17B1}"/>
              </a:ext>
            </a:extLst>
          </p:cNvPr>
          <p:cNvSpPr/>
          <p:nvPr/>
        </p:nvSpPr>
        <p:spPr>
          <a:xfrm>
            <a:off x="8526469" y="5017795"/>
            <a:ext cx="464820" cy="38862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39600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76AC11-80BE-795E-0AD5-EB1616901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8F9C000-1342-DA8B-7441-B84F8C1AF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AC1FEAA-BC91-66FD-CB0B-A49DFF95B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38FA19E-D5B6-29BC-7B78-FA5CC63E4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hu-HU" sz="6800" dirty="0">
                <a:solidFill>
                  <a:schemeClr val="bg1"/>
                </a:solidFill>
              </a:rPr>
              <a:t>SZÉL- és sarokkezelés</a:t>
            </a:r>
          </a:p>
        </p:txBody>
      </p:sp>
      <p:graphicFrame>
        <p:nvGraphicFramePr>
          <p:cNvPr id="14" name="Táblázat 13">
            <a:extLst>
              <a:ext uri="{FF2B5EF4-FFF2-40B4-BE49-F238E27FC236}">
                <a16:creationId xmlns:a16="http://schemas.microsoft.com/office/drawing/2014/main" id="{7F30F1EF-BE13-7228-58D3-DA798B90B1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122962"/>
              </p:ext>
            </p:extLst>
          </p:nvPr>
        </p:nvGraphicFramePr>
        <p:xfrm>
          <a:off x="3597541" y="4376567"/>
          <a:ext cx="2065274" cy="1679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574">
                  <a:extLst>
                    <a:ext uri="{9D8B030D-6E8A-4147-A177-3AD203B41FA5}">
                      <a16:colId xmlns:a16="http://schemas.microsoft.com/office/drawing/2014/main" val="1246648692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411711653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61729467"/>
                    </a:ext>
                  </a:extLst>
                </a:gridCol>
              </a:tblGrid>
              <a:tr h="536364">
                <a:tc>
                  <a:txBody>
                    <a:bodyPr/>
                    <a:lstStyle/>
                    <a:p>
                      <a:pPr algn="ctr"/>
                      <a:endParaRPr lang="hu-HU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3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hu-HU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33609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endParaRPr lang="hu-HU" sz="230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hu-HU" sz="23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072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hu-H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hu-HU" sz="2300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hu-HU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62880"/>
                  </a:ext>
                </a:extLst>
              </a:tr>
            </a:tbl>
          </a:graphicData>
        </a:graphic>
      </p:graphicFrame>
      <p:cxnSp>
        <p:nvCxnSpPr>
          <p:cNvPr id="19" name="Egyenes összekötő 18">
            <a:extLst>
              <a:ext uri="{FF2B5EF4-FFF2-40B4-BE49-F238E27FC236}">
                <a16:creationId xmlns:a16="http://schemas.microsoft.com/office/drawing/2014/main" id="{B0618D53-D5E2-4E2B-AEEF-6B7CD23169B3}"/>
              </a:ext>
            </a:extLst>
          </p:cNvPr>
          <p:cNvCxnSpPr>
            <a:cxnSpLocks/>
          </p:cNvCxnSpPr>
          <p:nvPr/>
        </p:nvCxnSpPr>
        <p:spPr>
          <a:xfrm>
            <a:off x="4960270" y="4254647"/>
            <a:ext cx="0" cy="195886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áblázat 2">
            <a:extLst>
              <a:ext uri="{FF2B5EF4-FFF2-40B4-BE49-F238E27FC236}">
                <a16:creationId xmlns:a16="http://schemas.microsoft.com/office/drawing/2014/main" id="{4DFC37DF-A60E-E51A-E289-CB6E69C8C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802667"/>
              </p:ext>
            </p:extLst>
          </p:nvPr>
        </p:nvGraphicFramePr>
        <p:xfrm>
          <a:off x="911972" y="4377250"/>
          <a:ext cx="2065274" cy="1679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574">
                  <a:extLst>
                    <a:ext uri="{9D8B030D-6E8A-4147-A177-3AD203B41FA5}">
                      <a16:colId xmlns:a16="http://schemas.microsoft.com/office/drawing/2014/main" val="1246648692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411711653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61729467"/>
                    </a:ext>
                  </a:extLst>
                </a:gridCol>
              </a:tblGrid>
              <a:tr h="536364">
                <a:tc>
                  <a:txBody>
                    <a:bodyPr/>
                    <a:lstStyle/>
                    <a:p>
                      <a:pPr algn="ctr"/>
                      <a:endParaRPr lang="hu-HU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3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33609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endParaRPr lang="hu-HU" sz="230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b="1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2400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072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hu-H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hu-HU" sz="23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2400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62880"/>
                  </a:ext>
                </a:extLst>
              </a:tr>
            </a:tbl>
          </a:graphicData>
        </a:graphic>
      </p:graphicFrame>
      <p:sp>
        <p:nvSpPr>
          <p:cNvPr id="4" name="Tartalom helye 2">
            <a:extLst>
              <a:ext uri="{FF2B5EF4-FFF2-40B4-BE49-F238E27FC236}">
                <a16:creationId xmlns:a16="http://schemas.microsoft.com/office/drawing/2014/main" id="{D224DDC2-5780-1DB4-9AC1-86FCEC0BD56B}"/>
              </a:ext>
            </a:extLst>
          </p:cNvPr>
          <p:cNvSpPr txBox="1">
            <a:spLocks/>
          </p:cNvSpPr>
          <p:nvPr/>
        </p:nvSpPr>
        <p:spPr>
          <a:xfrm>
            <a:off x="1859576" y="3429000"/>
            <a:ext cx="2857283" cy="736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hu-HU" sz="3600" dirty="0">
                <a:highlight>
                  <a:srgbClr val="C0C0C0"/>
                </a:highlight>
              </a:rPr>
              <a:t>Szélkezelés</a:t>
            </a:r>
            <a:endParaRPr lang="hu-HU" dirty="0">
              <a:highlight>
                <a:srgbClr val="C0C0C0"/>
              </a:highlight>
            </a:endParaRPr>
          </a:p>
        </p:txBody>
      </p:sp>
      <p:cxnSp>
        <p:nvCxnSpPr>
          <p:cNvPr id="5" name="Egyenes összekötő 4">
            <a:extLst>
              <a:ext uri="{FF2B5EF4-FFF2-40B4-BE49-F238E27FC236}">
                <a16:creationId xmlns:a16="http://schemas.microsoft.com/office/drawing/2014/main" id="{0DAEC573-0CF5-2F90-4FE7-66B3207FC1A8}"/>
              </a:ext>
            </a:extLst>
          </p:cNvPr>
          <p:cNvCxnSpPr>
            <a:cxnSpLocks/>
          </p:cNvCxnSpPr>
          <p:nvPr/>
        </p:nvCxnSpPr>
        <p:spPr>
          <a:xfrm>
            <a:off x="2274701" y="4255330"/>
            <a:ext cx="0" cy="195886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Nyíl: jobbra mutató 11">
            <a:extLst>
              <a:ext uri="{FF2B5EF4-FFF2-40B4-BE49-F238E27FC236}">
                <a16:creationId xmlns:a16="http://schemas.microsoft.com/office/drawing/2014/main" id="{86C583AE-54F6-1600-3537-C5B337FF85E8}"/>
              </a:ext>
            </a:extLst>
          </p:cNvPr>
          <p:cNvSpPr/>
          <p:nvPr/>
        </p:nvSpPr>
        <p:spPr>
          <a:xfrm>
            <a:off x="3054983" y="5021939"/>
            <a:ext cx="464820" cy="38862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15391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AAD5B0-EE47-36EF-00E2-CE6822FF3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34AE875-474B-15D7-60E2-0EE931408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AC344CA-08C4-E7CB-A65E-911BDC816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3FE9FE1-443E-207E-F642-B848AC7F1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hu-HU" sz="6800" dirty="0">
                <a:solidFill>
                  <a:schemeClr val="bg1"/>
                </a:solidFill>
              </a:rPr>
              <a:t>SZÉL- és sarokkezelés</a:t>
            </a:r>
          </a:p>
        </p:txBody>
      </p:sp>
      <p:graphicFrame>
        <p:nvGraphicFramePr>
          <p:cNvPr id="14" name="Táblázat 13">
            <a:extLst>
              <a:ext uri="{FF2B5EF4-FFF2-40B4-BE49-F238E27FC236}">
                <a16:creationId xmlns:a16="http://schemas.microsoft.com/office/drawing/2014/main" id="{15C3EE6A-7CC0-B8CA-EEC4-A146BA57BAEB}"/>
              </a:ext>
            </a:extLst>
          </p:cNvPr>
          <p:cNvGraphicFramePr>
            <a:graphicFrameLocks noGrp="1"/>
          </p:cNvGraphicFramePr>
          <p:nvPr/>
        </p:nvGraphicFramePr>
        <p:xfrm>
          <a:off x="3597541" y="4376567"/>
          <a:ext cx="2065274" cy="1679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574">
                  <a:extLst>
                    <a:ext uri="{9D8B030D-6E8A-4147-A177-3AD203B41FA5}">
                      <a16:colId xmlns:a16="http://schemas.microsoft.com/office/drawing/2014/main" val="1246648692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411711653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61729467"/>
                    </a:ext>
                  </a:extLst>
                </a:gridCol>
              </a:tblGrid>
              <a:tr h="536364">
                <a:tc>
                  <a:txBody>
                    <a:bodyPr/>
                    <a:lstStyle/>
                    <a:p>
                      <a:pPr algn="ctr"/>
                      <a:endParaRPr lang="hu-HU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3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hu-HU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33609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endParaRPr lang="hu-HU" sz="230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hu-HU" sz="23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072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hu-H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hu-HU" sz="2300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hu-HU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62880"/>
                  </a:ext>
                </a:extLst>
              </a:tr>
            </a:tbl>
          </a:graphicData>
        </a:graphic>
      </p:graphicFrame>
      <p:cxnSp>
        <p:nvCxnSpPr>
          <p:cNvPr id="19" name="Egyenes összekötő 18">
            <a:extLst>
              <a:ext uri="{FF2B5EF4-FFF2-40B4-BE49-F238E27FC236}">
                <a16:creationId xmlns:a16="http://schemas.microsoft.com/office/drawing/2014/main" id="{0EED563F-1A48-4605-BC45-E0045D5B0112}"/>
              </a:ext>
            </a:extLst>
          </p:cNvPr>
          <p:cNvCxnSpPr>
            <a:cxnSpLocks/>
          </p:cNvCxnSpPr>
          <p:nvPr/>
        </p:nvCxnSpPr>
        <p:spPr>
          <a:xfrm>
            <a:off x="4960270" y="4254647"/>
            <a:ext cx="0" cy="195886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áblázat 22">
            <a:extLst>
              <a:ext uri="{FF2B5EF4-FFF2-40B4-BE49-F238E27FC236}">
                <a16:creationId xmlns:a16="http://schemas.microsoft.com/office/drawing/2014/main" id="{F49C2006-69E1-8F82-1EE6-2797B0E3EA3A}"/>
              </a:ext>
            </a:extLst>
          </p:cNvPr>
          <p:cNvGraphicFramePr>
            <a:graphicFrameLocks noGrp="1"/>
          </p:cNvGraphicFramePr>
          <p:nvPr/>
        </p:nvGraphicFramePr>
        <p:xfrm>
          <a:off x="9087125" y="4388599"/>
          <a:ext cx="2065274" cy="1679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574">
                  <a:extLst>
                    <a:ext uri="{9D8B030D-6E8A-4147-A177-3AD203B41FA5}">
                      <a16:colId xmlns:a16="http://schemas.microsoft.com/office/drawing/2014/main" val="1246648692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411711653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61729467"/>
                    </a:ext>
                  </a:extLst>
                </a:gridCol>
              </a:tblGrid>
              <a:tr h="536364">
                <a:tc>
                  <a:txBody>
                    <a:bodyPr/>
                    <a:lstStyle/>
                    <a:p>
                      <a:pPr algn="ctr"/>
                      <a:endParaRPr lang="hu-HU" dirty="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300" dirty="0">
                        <a:highlight>
                          <a:srgbClr val="C0C0C0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hu-HU" dirty="0">
                        <a:highlight>
                          <a:srgbClr val="C0C0C0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33609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endParaRPr lang="hu-HU" sz="230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3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072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hu-H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hu-HU" sz="2300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hu-HU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62880"/>
                  </a:ext>
                </a:extLst>
              </a:tr>
            </a:tbl>
          </a:graphicData>
        </a:graphic>
      </p:graphicFrame>
      <p:cxnSp>
        <p:nvCxnSpPr>
          <p:cNvPr id="24" name="Egyenes összekötő 23">
            <a:extLst>
              <a:ext uri="{FF2B5EF4-FFF2-40B4-BE49-F238E27FC236}">
                <a16:creationId xmlns:a16="http://schemas.microsoft.com/office/drawing/2014/main" id="{1F082252-EC40-A0E0-5964-5F1A8449C14A}"/>
              </a:ext>
            </a:extLst>
          </p:cNvPr>
          <p:cNvCxnSpPr>
            <a:cxnSpLocks/>
          </p:cNvCxnSpPr>
          <p:nvPr/>
        </p:nvCxnSpPr>
        <p:spPr>
          <a:xfrm>
            <a:off x="10449854" y="4266679"/>
            <a:ext cx="0" cy="195886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gyenes összekötő 24">
            <a:extLst>
              <a:ext uri="{FF2B5EF4-FFF2-40B4-BE49-F238E27FC236}">
                <a16:creationId xmlns:a16="http://schemas.microsoft.com/office/drawing/2014/main" id="{67DE1E6D-80EA-050B-2CF0-28F2676E0B1A}"/>
              </a:ext>
            </a:extLst>
          </p:cNvPr>
          <p:cNvCxnSpPr>
            <a:cxnSpLocks/>
          </p:cNvCxnSpPr>
          <p:nvPr/>
        </p:nvCxnSpPr>
        <p:spPr>
          <a:xfrm>
            <a:off x="10127058" y="3726180"/>
            <a:ext cx="0" cy="2379883"/>
          </a:xfrm>
          <a:prstGeom prst="line">
            <a:avLst/>
          </a:prstGeom>
          <a:ln w="38100"/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áblázat 2">
            <a:extLst>
              <a:ext uri="{FF2B5EF4-FFF2-40B4-BE49-F238E27FC236}">
                <a16:creationId xmlns:a16="http://schemas.microsoft.com/office/drawing/2014/main" id="{511B7873-8477-7D55-8829-99E6672049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745762"/>
              </p:ext>
            </p:extLst>
          </p:nvPr>
        </p:nvGraphicFramePr>
        <p:xfrm>
          <a:off x="911972" y="4377250"/>
          <a:ext cx="2065274" cy="1679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574">
                  <a:extLst>
                    <a:ext uri="{9D8B030D-6E8A-4147-A177-3AD203B41FA5}">
                      <a16:colId xmlns:a16="http://schemas.microsoft.com/office/drawing/2014/main" val="1246648692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411711653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61729467"/>
                    </a:ext>
                  </a:extLst>
                </a:gridCol>
              </a:tblGrid>
              <a:tr h="536364">
                <a:tc>
                  <a:txBody>
                    <a:bodyPr/>
                    <a:lstStyle/>
                    <a:p>
                      <a:pPr algn="ctr"/>
                      <a:endParaRPr lang="hu-HU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sz="23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33609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endParaRPr lang="hu-HU" sz="230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b="1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2400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072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hu-H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hu-HU" sz="23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2400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62880"/>
                  </a:ext>
                </a:extLst>
              </a:tr>
            </a:tbl>
          </a:graphicData>
        </a:graphic>
      </p:graphicFrame>
      <p:sp>
        <p:nvSpPr>
          <p:cNvPr id="4" name="Tartalom helye 2">
            <a:extLst>
              <a:ext uri="{FF2B5EF4-FFF2-40B4-BE49-F238E27FC236}">
                <a16:creationId xmlns:a16="http://schemas.microsoft.com/office/drawing/2014/main" id="{AAD2DE35-C2B3-562A-4764-0C9C0B020B04}"/>
              </a:ext>
            </a:extLst>
          </p:cNvPr>
          <p:cNvSpPr txBox="1">
            <a:spLocks/>
          </p:cNvSpPr>
          <p:nvPr/>
        </p:nvSpPr>
        <p:spPr>
          <a:xfrm>
            <a:off x="1859576" y="3429000"/>
            <a:ext cx="2857283" cy="736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hu-HU" sz="3600" dirty="0">
                <a:highlight>
                  <a:srgbClr val="C0C0C0"/>
                </a:highlight>
              </a:rPr>
              <a:t>Szélkezelés</a:t>
            </a:r>
            <a:endParaRPr lang="hu-HU" dirty="0">
              <a:highlight>
                <a:srgbClr val="C0C0C0"/>
              </a:highlight>
            </a:endParaRPr>
          </a:p>
        </p:txBody>
      </p:sp>
      <p:cxnSp>
        <p:nvCxnSpPr>
          <p:cNvPr id="5" name="Egyenes összekötő 4">
            <a:extLst>
              <a:ext uri="{FF2B5EF4-FFF2-40B4-BE49-F238E27FC236}">
                <a16:creationId xmlns:a16="http://schemas.microsoft.com/office/drawing/2014/main" id="{B0F35FA9-2A01-9E18-996B-664A25A1D3C6}"/>
              </a:ext>
            </a:extLst>
          </p:cNvPr>
          <p:cNvCxnSpPr>
            <a:cxnSpLocks/>
          </p:cNvCxnSpPr>
          <p:nvPr/>
        </p:nvCxnSpPr>
        <p:spPr>
          <a:xfrm>
            <a:off x="2274701" y="4255330"/>
            <a:ext cx="0" cy="195886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áblázat 8">
            <a:extLst>
              <a:ext uri="{FF2B5EF4-FFF2-40B4-BE49-F238E27FC236}">
                <a16:creationId xmlns:a16="http://schemas.microsoft.com/office/drawing/2014/main" id="{FDEF8EAF-8BBB-C341-8E56-6541413398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152733"/>
              </p:ext>
            </p:extLst>
          </p:nvPr>
        </p:nvGraphicFramePr>
        <p:xfrm>
          <a:off x="6365359" y="4388599"/>
          <a:ext cx="2065274" cy="1679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5574">
                  <a:extLst>
                    <a:ext uri="{9D8B030D-6E8A-4147-A177-3AD203B41FA5}">
                      <a16:colId xmlns:a16="http://schemas.microsoft.com/office/drawing/2014/main" val="1246648692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4117116530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61729467"/>
                    </a:ext>
                  </a:extLst>
                </a:gridCol>
              </a:tblGrid>
              <a:tr h="536364"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x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x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2400" dirty="0"/>
                        <a:t>x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33609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/>
                      <a:endParaRPr lang="hu-HU" sz="230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u-HU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2400" dirty="0"/>
                        <a:t>x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072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hu-H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hu-HU" sz="2300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2400" dirty="0"/>
                        <a:t>x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62880"/>
                  </a:ext>
                </a:extLst>
              </a:tr>
            </a:tbl>
          </a:graphicData>
        </a:graphic>
      </p:graphicFrame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380725E4-C3E4-CD07-A4B0-0F2FC5DAB897}"/>
              </a:ext>
            </a:extLst>
          </p:cNvPr>
          <p:cNvCxnSpPr>
            <a:cxnSpLocks/>
          </p:cNvCxnSpPr>
          <p:nvPr/>
        </p:nvCxnSpPr>
        <p:spPr>
          <a:xfrm>
            <a:off x="7728088" y="4266679"/>
            <a:ext cx="0" cy="195886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artalom helye 2">
            <a:extLst>
              <a:ext uri="{FF2B5EF4-FFF2-40B4-BE49-F238E27FC236}">
                <a16:creationId xmlns:a16="http://schemas.microsoft.com/office/drawing/2014/main" id="{1A01CA0D-4E6A-B1E1-742C-ABFCBC3B6570}"/>
              </a:ext>
            </a:extLst>
          </p:cNvPr>
          <p:cNvSpPr txBox="1">
            <a:spLocks/>
          </p:cNvSpPr>
          <p:nvPr/>
        </p:nvSpPr>
        <p:spPr>
          <a:xfrm>
            <a:off x="7325390" y="3429000"/>
            <a:ext cx="2857283" cy="736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hu-HU" sz="3600" dirty="0">
                <a:highlight>
                  <a:srgbClr val="C0C0C0"/>
                </a:highlight>
              </a:rPr>
              <a:t>Sarokkezelés</a:t>
            </a:r>
            <a:endParaRPr lang="hu-HU" dirty="0">
              <a:highlight>
                <a:srgbClr val="C0C0C0"/>
              </a:highlight>
            </a:endParaRPr>
          </a:p>
        </p:txBody>
      </p: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EAD8A1AB-D367-8F4A-AF67-23804567277D}"/>
              </a:ext>
            </a:extLst>
          </p:cNvPr>
          <p:cNvCxnSpPr>
            <a:cxnSpLocks/>
          </p:cNvCxnSpPr>
          <p:nvPr/>
        </p:nvCxnSpPr>
        <p:spPr>
          <a:xfrm>
            <a:off x="7421958" y="3726180"/>
            <a:ext cx="0" cy="2379883"/>
          </a:xfrm>
          <a:prstGeom prst="line">
            <a:avLst/>
          </a:prstGeom>
          <a:ln w="38100"/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Nyíl: jobbra mutató 11">
            <a:extLst>
              <a:ext uri="{FF2B5EF4-FFF2-40B4-BE49-F238E27FC236}">
                <a16:creationId xmlns:a16="http://schemas.microsoft.com/office/drawing/2014/main" id="{B0CF4295-4090-64DF-879F-7209FCB22AE5}"/>
              </a:ext>
            </a:extLst>
          </p:cNvPr>
          <p:cNvSpPr/>
          <p:nvPr/>
        </p:nvSpPr>
        <p:spPr>
          <a:xfrm>
            <a:off x="3054983" y="5021939"/>
            <a:ext cx="464820" cy="38862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Nyíl: jobbra mutató 12">
            <a:extLst>
              <a:ext uri="{FF2B5EF4-FFF2-40B4-BE49-F238E27FC236}">
                <a16:creationId xmlns:a16="http://schemas.microsoft.com/office/drawing/2014/main" id="{9D61A8B3-BF62-8E5D-BDB4-BE22EC4443B0}"/>
              </a:ext>
            </a:extLst>
          </p:cNvPr>
          <p:cNvSpPr/>
          <p:nvPr/>
        </p:nvSpPr>
        <p:spPr>
          <a:xfrm>
            <a:off x="8526469" y="5017795"/>
            <a:ext cx="464820" cy="38862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71194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353C98-258A-7BEF-9178-AFE5C5CC2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1EAD714-335C-E492-68B8-38A2A1B4B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C313C12-0683-7161-32EB-D4314727F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22BC577-5466-01C2-0E81-E4CDC4F55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hu-HU" sz="6800" dirty="0">
                <a:solidFill>
                  <a:schemeClr val="bg1"/>
                </a:solidFill>
              </a:rPr>
              <a:t>Megvalósítás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25B0E0E2-2EB7-798A-4CBE-8A7E3EEB4624}"/>
              </a:ext>
            </a:extLst>
          </p:cNvPr>
          <p:cNvSpPr txBox="1">
            <a:spLocks/>
          </p:cNvSpPr>
          <p:nvPr/>
        </p:nvSpPr>
        <p:spPr>
          <a:xfrm>
            <a:off x="1858751" y="2933418"/>
            <a:ext cx="2857283" cy="736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hu-HU" sz="3600" dirty="0">
                <a:highlight>
                  <a:srgbClr val="C0C0C0"/>
                </a:highlight>
              </a:rPr>
              <a:t>CPU</a:t>
            </a:r>
            <a:endParaRPr lang="hu-HU" dirty="0">
              <a:highlight>
                <a:srgbClr val="C0C0C0"/>
              </a:highlight>
            </a:endParaRP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6C009371-F5D0-CC22-9BFF-D5554CD8AF05}"/>
              </a:ext>
            </a:extLst>
          </p:cNvPr>
          <p:cNvSpPr txBox="1">
            <a:spLocks/>
          </p:cNvSpPr>
          <p:nvPr/>
        </p:nvSpPr>
        <p:spPr>
          <a:xfrm>
            <a:off x="1746417" y="3881669"/>
            <a:ext cx="3081950" cy="23474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u-HU" dirty="0"/>
              <a:t>Kétdimenziós ciklus</a:t>
            </a:r>
          </a:p>
          <a:p>
            <a:pPr algn="ctr"/>
            <a:r>
              <a:rPr lang="hu-HU" dirty="0"/>
              <a:t>Elemenként külön beolvasás</a:t>
            </a:r>
          </a:p>
          <a:p>
            <a:pPr algn="ctr"/>
            <a:r>
              <a:rPr lang="hu-HU" dirty="0"/>
              <a:t>Határkezelés</a:t>
            </a:r>
          </a:p>
          <a:p>
            <a:pPr algn="ctr"/>
            <a:r>
              <a:rPr lang="hu-HU" dirty="0"/>
              <a:t>Eredmény kimeneti képtömbbe</a:t>
            </a:r>
          </a:p>
        </p:txBody>
      </p:sp>
    </p:spTree>
    <p:extLst>
      <p:ext uri="{BB962C8B-B14F-4D97-AF65-F5344CB8AC3E}">
        <p14:creationId xmlns:p14="http://schemas.microsoft.com/office/powerpoint/2010/main" val="29421879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A591EA-34EC-C551-463B-41D0C4D27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DED5D4E-F007-6E6A-7384-068A25FE3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505423C-997C-226E-F0BA-5EB4E72BB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06F2487-22EA-58E8-8E6E-F396B7A5A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hu-HU" sz="6800" dirty="0">
                <a:solidFill>
                  <a:schemeClr val="bg1"/>
                </a:solidFill>
              </a:rPr>
              <a:t>Megvalósítás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F5DFB498-9371-7156-805E-DC44CFA11986}"/>
              </a:ext>
            </a:extLst>
          </p:cNvPr>
          <p:cNvSpPr txBox="1">
            <a:spLocks/>
          </p:cNvSpPr>
          <p:nvPr/>
        </p:nvSpPr>
        <p:spPr>
          <a:xfrm>
            <a:off x="1858751" y="2933418"/>
            <a:ext cx="2857283" cy="736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hu-HU" sz="3600" dirty="0">
                <a:highlight>
                  <a:srgbClr val="C0C0C0"/>
                </a:highlight>
              </a:rPr>
              <a:t>CPU</a:t>
            </a:r>
            <a:endParaRPr lang="hu-HU" dirty="0">
              <a:highlight>
                <a:srgbClr val="C0C0C0"/>
              </a:highlight>
            </a:endParaRPr>
          </a:p>
        </p:txBody>
      </p:sp>
      <p:sp>
        <p:nvSpPr>
          <p:cNvPr id="16" name="Tartalom helye 2">
            <a:extLst>
              <a:ext uri="{FF2B5EF4-FFF2-40B4-BE49-F238E27FC236}">
                <a16:creationId xmlns:a16="http://schemas.microsoft.com/office/drawing/2014/main" id="{EE1BCFB6-9627-15CC-28F8-2DF1A9577CF2}"/>
              </a:ext>
            </a:extLst>
          </p:cNvPr>
          <p:cNvSpPr txBox="1">
            <a:spLocks/>
          </p:cNvSpPr>
          <p:nvPr/>
        </p:nvSpPr>
        <p:spPr>
          <a:xfrm>
            <a:off x="7330237" y="2933418"/>
            <a:ext cx="2857283" cy="736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hu-HU" sz="3600" dirty="0">
                <a:highlight>
                  <a:srgbClr val="C0C0C0"/>
                </a:highlight>
              </a:rPr>
              <a:t>GPU (</a:t>
            </a:r>
            <a:r>
              <a:rPr lang="hu-HU" sz="3600" dirty="0" err="1">
                <a:highlight>
                  <a:srgbClr val="C0C0C0"/>
                </a:highlight>
              </a:rPr>
              <a:t>shared</a:t>
            </a:r>
            <a:r>
              <a:rPr lang="hu-HU" sz="3600" dirty="0">
                <a:highlight>
                  <a:srgbClr val="C0C0C0"/>
                </a:highlight>
              </a:rPr>
              <a:t>)</a:t>
            </a:r>
            <a:endParaRPr lang="hu-HU" dirty="0">
              <a:highlight>
                <a:srgbClr val="C0C0C0"/>
              </a:highlight>
            </a:endParaRP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5EF41041-362E-6003-B28D-C5A35B06F396}"/>
              </a:ext>
            </a:extLst>
          </p:cNvPr>
          <p:cNvSpPr txBox="1">
            <a:spLocks/>
          </p:cNvSpPr>
          <p:nvPr/>
        </p:nvSpPr>
        <p:spPr>
          <a:xfrm>
            <a:off x="1746417" y="3881669"/>
            <a:ext cx="3081950" cy="23474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u-HU" dirty="0"/>
              <a:t>Kétdimenziós ciklus</a:t>
            </a:r>
          </a:p>
          <a:p>
            <a:pPr algn="ctr"/>
            <a:r>
              <a:rPr lang="hu-HU" dirty="0"/>
              <a:t>Elemenként külön beolvasás</a:t>
            </a:r>
          </a:p>
          <a:p>
            <a:pPr algn="ctr"/>
            <a:r>
              <a:rPr lang="hu-HU" dirty="0"/>
              <a:t>Határkezelés</a:t>
            </a:r>
          </a:p>
          <a:p>
            <a:pPr algn="ctr"/>
            <a:r>
              <a:rPr lang="hu-HU" dirty="0"/>
              <a:t>Eredmény kimeneti képtömbbe</a:t>
            </a:r>
          </a:p>
        </p:txBody>
      </p:sp>
      <p:sp>
        <p:nvSpPr>
          <p:cNvPr id="7" name="Tartalom helye 2">
            <a:extLst>
              <a:ext uri="{FF2B5EF4-FFF2-40B4-BE49-F238E27FC236}">
                <a16:creationId xmlns:a16="http://schemas.microsoft.com/office/drawing/2014/main" id="{BE4585DA-7515-F7C2-5C0D-22C66C1A3E40}"/>
              </a:ext>
            </a:extLst>
          </p:cNvPr>
          <p:cNvSpPr txBox="1">
            <a:spLocks/>
          </p:cNvSpPr>
          <p:nvPr/>
        </p:nvSpPr>
        <p:spPr>
          <a:xfrm>
            <a:off x="7217903" y="3881669"/>
            <a:ext cx="3081950" cy="23474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u-HU" dirty="0"/>
              <a:t>Párhuzamos feldolgozás</a:t>
            </a:r>
          </a:p>
          <a:p>
            <a:pPr algn="ctr"/>
            <a:r>
              <a:rPr lang="hu-HU" dirty="0"/>
              <a:t>Blokk adatai </a:t>
            </a:r>
            <a:r>
              <a:rPr lang="hu-HU" dirty="0" err="1"/>
              <a:t>shared</a:t>
            </a:r>
            <a:r>
              <a:rPr lang="hu-HU" dirty="0"/>
              <a:t> memóriába</a:t>
            </a:r>
          </a:p>
          <a:p>
            <a:pPr algn="ctr"/>
            <a:r>
              <a:rPr lang="hu-HU" dirty="0"/>
              <a:t>Szinkronizáció</a:t>
            </a:r>
          </a:p>
          <a:p>
            <a:pPr algn="ctr"/>
            <a:r>
              <a:rPr lang="hu-HU" dirty="0"/>
              <a:t>Eredmény globális memóriába</a:t>
            </a:r>
          </a:p>
        </p:txBody>
      </p:sp>
    </p:spTree>
    <p:extLst>
      <p:ext uri="{BB962C8B-B14F-4D97-AF65-F5344CB8AC3E}">
        <p14:creationId xmlns:p14="http://schemas.microsoft.com/office/powerpoint/2010/main" val="28700744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7830E5-5953-BE46-30D3-AB0F3837C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5B1D46D-CDB7-70C2-FDD7-2E1714C28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17E497-E471-24D9-0966-01F64509C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980F0C4-3AC4-40DC-B83B-7A6A58B95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hu-HU" sz="6800" dirty="0">
                <a:solidFill>
                  <a:schemeClr val="bg1"/>
                </a:solidFill>
              </a:rPr>
              <a:t>Eredmény kiértékelése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C8578A5-7D10-B8B9-9299-5405CD63966A}"/>
              </a:ext>
            </a:extLst>
          </p:cNvPr>
          <p:cNvSpPr txBox="1">
            <a:spLocks/>
          </p:cNvSpPr>
          <p:nvPr/>
        </p:nvSpPr>
        <p:spPr>
          <a:xfrm>
            <a:off x="3515717" y="3726424"/>
            <a:ext cx="2580283" cy="1752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3600" dirty="0"/>
              <a:t>CPU time</a:t>
            </a:r>
            <a:r>
              <a:rPr lang="hu-HU" sz="3600" dirty="0"/>
              <a:t>:</a:t>
            </a:r>
          </a:p>
          <a:p>
            <a:pPr marL="0" indent="0" algn="r">
              <a:buNone/>
            </a:pPr>
            <a:r>
              <a:rPr lang="en-US" sz="3600" dirty="0"/>
              <a:t>GPU shared time:</a:t>
            </a:r>
            <a:endParaRPr lang="hu-HU" sz="3600" dirty="0">
              <a:highlight>
                <a:srgbClr val="C0C0C0"/>
              </a:highlight>
            </a:endParaRPr>
          </a:p>
        </p:txBody>
      </p: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282D0F87-705F-3AA0-CB48-20F0BF3D5984}"/>
              </a:ext>
            </a:extLst>
          </p:cNvPr>
          <p:cNvSpPr txBox="1">
            <a:spLocks/>
          </p:cNvSpPr>
          <p:nvPr/>
        </p:nvSpPr>
        <p:spPr>
          <a:xfrm>
            <a:off x="6095999" y="3726424"/>
            <a:ext cx="2571139" cy="1752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highlight>
                  <a:srgbClr val="C0C0C0"/>
                </a:highlight>
              </a:rPr>
              <a:t>521</a:t>
            </a:r>
            <a:r>
              <a:rPr lang="en-US" sz="3600" dirty="0"/>
              <a:t>.811 </a:t>
            </a:r>
            <a:r>
              <a:rPr lang="en-US" sz="3600" dirty="0" err="1"/>
              <a:t>ms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highlight>
                  <a:srgbClr val="C0C0C0"/>
                </a:highlight>
              </a:rPr>
              <a:t>21</a:t>
            </a:r>
            <a:r>
              <a:rPr lang="en-US" sz="3600" dirty="0"/>
              <a:t>.683 </a:t>
            </a:r>
            <a:r>
              <a:rPr lang="en-US" sz="3600" dirty="0" err="1"/>
              <a:t>ms</a:t>
            </a:r>
            <a:endParaRPr lang="hu-HU" sz="3600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06592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3846D9-A2AF-A7E9-E01D-D5B5F3357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szövet, minta, szürke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28146BA-94A4-A24D-19D2-0C063367EF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6422" y="2805428"/>
            <a:ext cx="2909022" cy="2905961"/>
          </a:xfrm>
          <a:prstGeom prst="rect">
            <a:avLst/>
          </a:prstGeom>
          <a:ln w="381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EB981D-2738-3D4E-1111-923A42AC3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982610A-92B7-CF5F-DA41-5903EF6DF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07B2D82-873A-A3EC-808F-A33D90668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hu-HU" sz="6800" dirty="0">
                <a:solidFill>
                  <a:schemeClr val="bg1"/>
                </a:solidFill>
              </a:rPr>
              <a:t>Eredmény kiértékelése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425DC88A-8F97-4D3E-5006-D587B011C18E}"/>
              </a:ext>
            </a:extLst>
          </p:cNvPr>
          <p:cNvSpPr txBox="1">
            <a:spLocks/>
          </p:cNvSpPr>
          <p:nvPr/>
        </p:nvSpPr>
        <p:spPr>
          <a:xfrm>
            <a:off x="1177824" y="5987089"/>
            <a:ext cx="2857283" cy="41289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hu-HU">
                <a:highlight>
                  <a:srgbClr val="C0C0C0"/>
                </a:highlight>
              </a:rPr>
              <a:t>Eredeti</a:t>
            </a:r>
            <a:endParaRPr lang="hu-HU" dirty="0">
              <a:highlight>
                <a:srgbClr val="C0C0C0"/>
              </a:highlight>
            </a:endParaRPr>
          </a:p>
        </p:txBody>
      </p:sp>
      <p:pic>
        <p:nvPicPr>
          <p:cNvPr id="5" name="Kép 4" descr="A képen minta, szövet, szürke, monokró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891B9AF9-A30F-3A87-0EA9-E5993C5A5C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207" y="2805429"/>
            <a:ext cx="2902900" cy="2905961"/>
          </a:xfrm>
          <a:prstGeom prst="rect">
            <a:avLst/>
          </a:prstGeom>
          <a:ln w="381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7" name="Kép 6" descr="A képen szövet, minta, szürke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F70345F-A492-7DB8-AA73-30265D5CE8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9965" y="2805428"/>
            <a:ext cx="2909022" cy="2905961"/>
          </a:xfrm>
          <a:prstGeom prst="rect">
            <a:avLst/>
          </a:prstGeom>
          <a:ln w="381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6" name="Tartalom helye 2">
            <a:extLst>
              <a:ext uri="{FF2B5EF4-FFF2-40B4-BE49-F238E27FC236}">
                <a16:creationId xmlns:a16="http://schemas.microsoft.com/office/drawing/2014/main" id="{22641097-5101-8744-5EE5-95B408A6C159}"/>
              </a:ext>
            </a:extLst>
          </p:cNvPr>
          <p:cNvSpPr txBox="1">
            <a:spLocks/>
          </p:cNvSpPr>
          <p:nvPr/>
        </p:nvSpPr>
        <p:spPr>
          <a:xfrm>
            <a:off x="4677312" y="5987089"/>
            <a:ext cx="2857283" cy="41289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hu-HU" dirty="0">
                <a:highlight>
                  <a:srgbClr val="C0C0C0"/>
                </a:highlight>
              </a:rPr>
              <a:t>CPU</a:t>
            </a:r>
          </a:p>
        </p:txBody>
      </p:sp>
      <p:sp>
        <p:nvSpPr>
          <p:cNvPr id="11" name="Tartalom helye 2">
            <a:extLst>
              <a:ext uri="{FF2B5EF4-FFF2-40B4-BE49-F238E27FC236}">
                <a16:creationId xmlns:a16="http://schemas.microsoft.com/office/drawing/2014/main" id="{A3730E7D-8D1B-B72E-37B0-CA1E186755F4}"/>
              </a:ext>
            </a:extLst>
          </p:cNvPr>
          <p:cNvSpPr txBox="1">
            <a:spLocks/>
          </p:cNvSpPr>
          <p:nvPr/>
        </p:nvSpPr>
        <p:spPr>
          <a:xfrm>
            <a:off x="8185369" y="5987089"/>
            <a:ext cx="2857283" cy="41289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hu-HU" dirty="0">
                <a:highlight>
                  <a:srgbClr val="C0C0C0"/>
                </a:highlight>
              </a:rPr>
              <a:t>GPU</a:t>
            </a:r>
          </a:p>
        </p:txBody>
      </p:sp>
      <p:pic>
        <p:nvPicPr>
          <p:cNvPr id="12" name="Kép 11" descr="A képen szövet, minta, szürke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E5334193-F409-49E8-96E9-A5C1870ABE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9499" y="2805428"/>
            <a:ext cx="2909022" cy="2905961"/>
          </a:xfrm>
          <a:prstGeom prst="rect">
            <a:avLst/>
          </a:prstGeom>
          <a:ln w="381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5899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6A2FA5-7023-9758-4F13-466313FD8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A381740-063A-41A4-836D-85D14980E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2D45EE4-C4F0-4F72-B1C6-39F596D13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C459BAD-4279-4A9D-B0C5-662C5F5ED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3203463" y="-2060461"/>
            <a:ext cx="5649003" cy="10651671"/>
          </a:xfrm>
          <a:custGeom>
            <a:avLst/>
            <a:gdLst>
              <a:gd name="connsiteX0" fmla="*/ 0 w 5649003"/>
              <a:gd name="connsiteY0" fmla="*/ 5325836 h 10651671"/>
              <a:gd name="connsiteX1" fmla="*/ 2824502 w 5649003"/>
              <a:gd name="connsiteY1" fmla="*/ 0 h 10651671"/>
              <a:gd name="connsiteX2" fmla="*/ 5649004 w 5649003"/>
              <a:gd name="connsiteY2" fmla="*/ 5325836 h 10651671"/>
              <a:gd name="connsiteX3" fmla="*/ 2824502 w 5649003"/>
              <a:gd name="connsiteY3" fmla="*/ 10651672 h 10651671"/>
              <a:gd name="connsiteX4" fmla="*/ 0 w 5649003"/>
              <a:gd name="connsiteY4" fmla="*/ 5325836 h 10651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9003" h="10651671" fill="none" extrusionOk="0">
                <a:moveTo>
                  <a:pt x="0" y="5325836"/>
                </a:moveTo>
                <a:cubicBezTo>
                  <a:pt x="186946" y="2320485"/>
                  <a:pt x="1438121" y="-52385"/>
                  <a:pt x="2824502" y="0"/>
                </a:cubicBezTo>
                <a:cubicBezTo>
                  <a:pt x="4703838" y="-43168"/>
                  <a:pt x="5583840" y="2369660"/>
                  <a:pt x="5649004" y="5325836"/>
                </a:cubicBezTo>
                <a:cubicBezTo>
                  <a:pt x="5518761" y="8289338"/>
                  <a:pt x="4285196" y="10894014"/>
                  <a:pt x="2824502" y="10651672"/>
                </a:cubicBezTo>
                <a:cubicBezTo>
                  <a:pt x="1536945" y="11016699"/>
                  <a:pt x="142947" y="8418643"/>
                  <a:pt x="0" y="5325836"/>
                </a:cubicBezTo>
                <a:close/>
              </a:path>
              <a:path w="5649003" h="10651671" stroke="0" extrusionOk="0">
                <a:moveTo>
                  <a:pt x="0" y="5325836"/>
                </a:moveTo>
                <a:cubicBezTo>
                  <a:pt x="-54350" y="2332108"/>
                  <a:pt x="1351726" y="167869"/>
                  <a:pt x="2824502" y="0"/>
                </a:cubicBezTo>
                <a:cubicBezTo>
                  <a:pt x="4182679" y="-143942"/>
                  <a:pt x="5672665" y="2549517"/>
                  <a:pt x="5649004" y="5325836"/>
                </a:cubicBezTo>
                <a:cubicBezTo>
                  <a:pt x="5518596" y="8280244"/>
                  <a:pt x="4081190" y="10622204"/>
                  <a:pt x="2824502" y="10651672"/>
                </a:cubicBezTo>
                <a:cubicBezTo>
                  <a:pt x="1216708" y="10537144"/>
                  <a:pt x="-100850" y="8264979"/>
                  <a:pt x="0" y="5325836"/>
                </a:cubicBezTo>
                <a:close/>
              </a:path>
            </a:pathLst>
          </a:custGeom>
          <a:solidFill>
            <a:schemeClr val="accent1"/>
          </a:solidFill>
          <a:ln w="571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63743190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688D234-0248-0600-6108-9E43E7896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6544" y="2562226"/>
            <a:ext cx="8055864" cy="142552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000" dirty="0" err="1">
                <a:solidFill>
                  <a:srgbClr val="FFFFFF"/>
                </a:solidFill>
              </a:rPr>
              <a:t>Köszönöm</a:t>
            </a:r>
            <a:r>
              <a:rPr lang="en-US" sz="8000" dirty="0">
                <a:solidFill>
                  <a:srgbClr val="FFFFFF"/>
                </a:solidFill>
              </a:rPr>
              <a:t> a </a:t>
            </a:r>
            <a:r>
              <a:rPr lang="en-US" sz="8000" dirty="0" err="1">
                <a:solidFill>
                  <a:srgbClr val="FFFFFF"/>
                </a:solidFill>
              </a:rPr>
              <a:t>figyelmet</a:t>
            </a:r>
            <a:r>
              <a:rPr lang="en-US" sz="8000" dirty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0953BC39-9D68-40BE-BF3C-5C4EB782A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630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ketchyVTI">
  <a:themeElements>
    <a:clrScheme name="Kék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ustom 2">
      <a:majorFont>
        <a:latin typeface="The Serif Hand Black"/>
        <a:ea typeface=""/>
        <a:cs typeface=""/>
      </a:majorFont>
      <a:minorFont>
        <a:latin typeface="The Hand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1625</TotalTime>
  <Words>247</Words>
  <Application>Microsoft Office PowerPoint</Application>
  <PresentationFormat>Szélesvásznú</PresentationFormat>
  <Paragraphs>96</Paragraphs>
  <Slides>10</Slides>
  <Notes>7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5" baseType="lpstr">
      <vt:lpstr>Aptos</vt:lpstr>
      <vt:lpstr>Arial</vt:lpstr>
      <vt:lpstr>The Hand Bold</vt:lpstr>
      <vt:lpstr>The Serif Hand Black</vt:lpstr>
      <vt:lpstr>SketchyVTI</vt:lpstr>
      <vt:lpstr>Gauss-elmosás CPU és GPU segítségével</vt:lpstr>
      <vt:lpstr>GAUSS ELMOSÁS ELVE</vt:lpstr>
      <vt:lpstr>GAUSS ELMOSÁS ELVE</vt:lpstr>
      <vt:lpstr>SZÉL- és sarokkezelés</vt:lpstr>
      <vt:lpstr>SZÉL- és sarokkezelés</vt:lpstr>
      <vt:lpstr>Megvalósítás</vt:lpstr>
      <vt:lpstr>Megvalósítás</vt:lpstr>
      <vt:lpstr>Eredmény kiértékelése</vt:lpstr>
      <vt:lpstr>Eredmény kiértékelése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Sachs Róbert</dc:creator>
  <cp:lastModifiedBy>Sachs Róbert</cp:lastModifiedBy>
  <cp:revision>158</cp:revision>
  <dcterms:created xsi:type="dcterms:W3CDTF">2025-11-24T11:03:20Z</dcterms:created>
  <dcterms:modified xsi:type="dcterms:W3CDTF">2025-11-30T21:04:25Z</dcterms:modified>
</cp:coreProperties>
</file>